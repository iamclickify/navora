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68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ib.gov.in/PressReleasePage.aspx?PRID=2296102&amp;reg=48&amp;lang=1" TargetMode="External"/><Relationship Id="rId5" Type="http://schemas.openxmlformats.org/officeDocument/2006/relationships/hyperlink" Target="https://www.pib.gov.in/PressReleasePage.aspx?PRID=2128329&amp;reg=48&amp;lang=2" TargetMode="External"/><Relationship Id="rId4" Type="http://schemas.openxmlformats.org/officeDocument/2006/relationships/hyperlink" Target="https://shipmin.gov.in/en/division/shipping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paradipport.gov.in/?utm_source=chatgpt.com" TargetMode="External"/><Relationship Id="rId3" Type="http://schemas.openxmlformats.org/officeDocument/2006/relationships/hyperlink" Target="https://sih2026.vuce.in/en/ps/SIH26006?utm_source=chatgpt.com" TargetMode="External"/><Relationship Id="rId7" Type="http://schemas.openxmlformats.org/officeDocument/2006/relationships/hyperlink" Target="https://www.shipmin.gov.in/publication/annual-reports-ports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hipmin.gov.in/en/content/mopsw-%E2%80%93-annual-report-2025%E2%80%9326-english-version?utm_source=chatgpt.com" TargetMode="External"/><Relationship Id="rId11" Type="http://schemas.openxmlformats.org/officeDocument/2006/relationships/image" Target="../media/image2.png"/><Relationship Id="rId5" Type="http://schemas.openxmlformats.org/officeDocument/2006/relationships/hyperlink" Target="https://www.pib.gov.in/PressReleasePage.aspx?PRID=2128329&amp;reg=48&amp;lang=2" TargetMode="External"/><Relationship Id="rId10" Type="http://schemas.openxmlformats.org/officeDocument/2006/relationships/hyperlink" Target="https://www.balticexchange.com/en/data-services/market-information0/dry-services.html?utm_source=chatgpt.com" TargetMode="External"/><Relationship Id="rId4" Type="http://schemas.openxmlformats.org/officeDocument/2006/relationships/hyperlink" Target="https://shipmin.gov.in/en/publication/annual-reports?utm_source=chatgpt.com" TargetMode="External"/><Relationship Id="rId9" Type="http://schemas.openxmlformats.org/officeDocument/2006/relationships/hyperlink" Target="https://unctad.org/topic/transport-and-trade-logistics/review-of-maritime-transport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62314" y="1891735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8870" y="731801"/>
            <a:ext cx="6729181" cy="5055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SIH26006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Title–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Intelligent Freight Forecasting for Optimized Vessel Chartering &amp; Bulk Cargo Procurement</a:t>
            </a:r>
          </a:p>
          <a:p>
            <a:pPr algn="just">
              <a:lnSpc>
                <a:spcPct val="100000"/>
              </a:lnSpc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Transportation and logistics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RouteX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4458" y="28459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NAVORA</a:t>
            </a:r>
            <a:b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Intelligent Freight Forecasting and Vessel Optimization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RouteX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7B6930F-18DE-C197-4648-21D0978559FA}"/>
              </a:ext>
            </a:extLst>
          </p:cNvPr>
          <p:cNvSpPr txBox="1"/>
          <p:nvPr/>
        </p:nvSpPr>
        <p:spPr>
          <a:xfrm>
            <a:off x="8479929" y="3136612"/>
            <a:ext cx="6764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18436C4-F2B8-29DE-7AAD-D4F984539311}"/>
              </a:ext>
            </a:extLst>
          </p:cNvPr>
          <p:cNvSpPr/>
          <p:nvPr/>
        </p:nvSpPr>
        <p:spPr>
          <a:xfrm>
            <a:off x="537931" y="2842632"/>
            <a:ext cx="4038600" cy="45877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    Freight decisions are reactive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D36682F-4CB5-1B7C-484E-A4D0F52337A2}"/>
              </a:ext>
            </a:extLst>
          </p:cNvPr>
          <p:cNvSpPr/>
          <p:nvPr/>
        </p:nvSpPr>
        <p:spPr>
          <a:xfrm>
            <a:off x="545953" y="3556594"/>
            <a:ext cx="4038600" cy="44137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     Vessel selection is fragmented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BAD76C7-377A-4F3D-B770-CEF79FD5DF9B}"/>
              </a:ext>
            </a:extLst>
          </p:cNvPr>
          <p:cNvSpPr/>
          <p:nvPr/>
        </p:nvSpPr>
        <p:spPr>
          <a:xfrm>
            <a:off x="529909" y="4267023"/>
            <a:ext cx="4038600" cy="45877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          Voyages are optimized in isolation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0158D4A-E051-7EC6-D4E8-8096F40208BF}"/>
              </a:ext>
            </a:extLst>
          </p:cNvPr>
          <p:cNvSpPr/>
          <p:nvPr/>
        </p:nvSpPr>
        <p:spPr>
          <a:xfrm>
            <a:off x="521887" y="4985541"/>
            <a:ext cx="4038600" cy="45877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          “What-if” risks are hard to quantify</a:t>
            </a:r>
          </a:p>
        </p:txBody>
      </p:sp>
      <p:sp>
        <p:nvSpPr>
          <p:cNvPr id="36" name="Arrow: Pentagon 35">
            <a:extLst>
              <a:ext uri="{FF2B5EF4-FFF2-40B4-BE49-F238E27FC236}">
                <a16:creationId xmlns:a16="http://schemas.microsoft.com/office/drawing/2014/main" id="{CFB31359-727F-A74C-AA35-FD24E1C39D12}"/>
              </a:ext>
            </a:extLst>
          </p:cNvPr>
          <p:cNvSpPr/>
          <p:nvPr/>
        </p:nvSpPr>
        <p:spPr>
          <a:xfrm>
            <a:off x="537931" y="2824101"/>
            <a:ext cx="625642" cy="470853"/>
          </a:xfrm>
          <a:prstGeom prst="homePlate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38" name="Arrow: Pentagon 37">
            <a:extLst>
              <a:ext uri="{FF2B5EF4-FFF2-40B4-BE49-F238E27FC236}">
                <a16:creationId xmlns:a16="http://schemas.microsoft.com/office/drawing/2014/main" id="{2C4A0DEB-2B94-EB11-F436-22D804D09738}"/>
              </a:ext>
            </a:extLst>
          </p:cNvPr>
          <p:cNvSpPr/>
          <p:nvPr/>
        </p:nvSpPr>
        <p:spPr>
          <a:xfrm>
            <a:off x="537931" y="3547894"/>
            <a:ext cx="625642" cy="458775"/>
          </a:xfrm>
          <a:prstGeom prst="homePlate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40" name="Arrow: Pentagon 39">
            <a:extLst>
              <a:ext uri="{FF2B5EF4-FFF2-40B4-BE49-F238E27FC236}">
                <a16:creationId xmlns:a16="http://schemas.microsoft.com/office/drawing/2014/main" id="{AB4B209A-5EC8-27D2-95BB-A993986F8348}"/>
              </a:ext>
            </a:extLst>
          </p:cNvPr>
          <p:cNvSpPr/>
          <p:nvPr/>
        </p:nvSpPr>
        <p:spPr>
          <a:xfrm>
            <a:off x="521887" y="4253156"/>
            <a:ext cx="633663" cy="485898"/>
          </a:xfrm>
          <a:prstGeom prst="homePlate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42" name="Arrow: Pentagon 41">
            <a:extLst>
              <a:ext uri="{FF2B5EF4-FFF2-40B4-BE49-F238E27FC236}">
                <a16:creationId xmlns:a16="http://schemas.microsoft.com/office/drawing/2014/main" id="{62FBFB66-8D22-66A9-6083-04D55F5B2CD2}"/>
              </a:ext>
            </a:extLst>
          </p:cNvPr>
          <p:cNvSpPr/>
          <p:nvPr/>
        </p:nvSpPr>
        <p:spPr>
          <a:xfrm>
            <a:off x="521887" y="4985541"/>
            <a:ext cx="625642" cy="458775"/>
          </a:xfrm>
          <a:prstGeom prst="homePlate">
            <a:avLst/>
          </a:prstGeom>
          <a:solidFill>
            <a:schemeClr val="tx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B5C8276-C74F-EE3F-A227-C3EC23EA897A}"/>
              </a:ext>
            </a:extLst>
          </p:cNvPr>
          <p:cNvSpPr/>
          <p:nvPr/>
        </p:nvSpPr>
        <p:spPr>
          <a:xfrm>
            <a:off x="5680858" y="2417852"/>
            <a:ext cx="6063916" cy="3793660"/>
          </a:xfrm>
          <a:custGeom>
            <a:avLst/>
            <a:gdLst>
              <a:gd name="csX0" fmla="*/ 0 w 6063916"/>
              <a:gd name="csY0" fmla="*/ 385133 h 4155557"/>
              <a:gd name="csX1" fmla="*/ 401175 w 6063916"/>
              <a:gd name="csY1" fmla="*/ 0 h 4155557"/>
              <a:gd name="csX2" fmla="*/ 5662741 w 6063916"/>
              <a:gd name="csY2" fmla="*/ 0 h 4155557"/>
              <a:gd name="csX3" fmla="*/ 6063916 w 6063916"/>
              <a:gd name="csY3" fmla="*/ 433259 h 4155557"/>
              <a:gd name="csX4" fmla="*/ 6047874 w 6063916"/>
              <a:gd name="csY4" fmla="*/ 3754382 h 4155557"/>
              <a:gd name="csX5" fmla="*/ 5710868 w 6063916"/>
              <a:gd name="csY5" fmla="*/ 4139515 h 4155557"/>
              <a:gd name="csX6" fmla="*/ 417217 w 6063916"/>
              <a:gd name="csY6" fmla="*/ 4155557 h 4155557"/>
              <a:gd name="csX7" fmla="*/ 0 w 6063916"/>
              <a:gd name="csY7" fmla="*/ 3754382 h 4155557"/>
              <a:gd name="csX8" fmla="*/ 0 w 6063916"/>
              <a:gd name="csY8" fmla="*/ 385133 h 41555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063916" h="4155557">
                <a:moveTo>
                  <a:pt x="0" y="385133"/>
                </a:moveTo>
                <a:cubicBezTo>
                  <a:pt x="0" y="4094"/>
                  <a:pt x="20136" y="0"/>
                  <a:pt x="401175" y="0"/>
                </a:cubicBezTo>
                <a:lnTo>
                  <a:pt x="5662741" y="0"/>
                </a:lnTo>
                <a:cubicBezTo>
                  <a:pt x="6043780" y="0"/>
                  <a:pt x="6063916" y="52220"/>
                  <a:pt x="6063916" y="433259"/>
                </a:cubicBezTo>
                <a:cubicBezTo>
                  <a:pt x="6058569" y="1454742"/>
                  <a:pt x="6053221" y="2732899"/>
                  <a:pt x="6047874" y="3754382"/>
                </a:cubicBezTo>
                <a:cubicBezTo>
                  <a:pt x="6047874" y="4135421"/>
                  <a:pt x="6091907" y="4139515"/>
                  <a:pt x="5710868" y="4139515"/>
                </a:cubicBezTo>
                <a:lnTo>
                  <a:pt x="417217" y="4155557"/>
                </a:lnTo>
                <a:cubicBezTo>
                  <a:pt x="36178" y="4155557"/>
                  <a:pt x="0" y="4135421"/>
                  <a:pt x="0" y="3754382"/>
                </a:cubicBezTo>
                <a:lnTo>
                  <a:pt x="0" y="38513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</a:rPr>
              <a:t>A smart platform that helps companies make better shipping and cargo booking decisions.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</a:rPr>
              <a:t>Provides freight cost forecasts for upcoming days and weeks. </a:t>
            </a:r>
          </a:p>
          <a:p>
            <a:pPr marL="457200" lvl="0" indent="-4572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</a:rPr>
              <a:t>Suggests the most suitable vessel based on cargo quantity and port conditions.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tx1"/>
                </a:solidFill>
              </a:rPr>
              <a:t>Allows users to compare different shipping options before making a decision.</a:t>
            </a: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Shows possible risks such as fuel price changes, weather conditions, and port delays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B4A71A-40F0-BA48-E813-55E8EEF74BB9}"/>
              </a:ext>
            </a:extLst>
          </p:cNvPr>
          <p:cNvSpPr txBox="1"/>
          <p:nvPr/>
        </p:nvSpPr>
        <p:spPr>
          <a:xfrm>
            <a:off x="447226" y="1948474"/>
            <a:ext cx="3062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What’s Broken Today?</a:t>
            </a:r>
            <a:endParaRPr lang="en-IN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6CFCD2-6AAA-F593-AD5E-DF2C0C87B33A}"/>
              </a:ext>
            </a:extLst>
          </p:cNvPr>
          <p:cNvSpPr txBox="1"/>
          <p:nvPr/>
        </p:nvSpPr>
        <p:spPr>
          <a:xfrm>
            <a:off x="5774317" y="1956186"/>
            <a:ext cx="2705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Proposed Solution:-</a:t>
            </a:r>
            <a:endParaRPr lang="en-IN" sz="2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Tempte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06702" y="119614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RouteX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C06C1F03-7B70-DB65-3116-D1F7E1C2B520}"/>
              </a:ext>
            </a:extLst>
          </p:cNvPr>
          <p:cNvSpPr txBox="1"/>
          <p:nvPr/>
        </p:nvSpPr>
        <p:spPr>
          <a:xfrm>
            <a:off x="5320617" y="970888"/>
            <a:ext cx="6789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/>
          </a:p>
          <a:p>
            <a:endParaRPr lang="en-IN" b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D741D5F-ABBC-C265-6FC4-E16C821BF286}"/>
              </a:ext>
            </a:extLst>
          </p:cNvPr>
          <p:cNvSpPr/>
          <p:nvPr/>
        </p:nvSpPr>
        <p:spPr>
          <a:xfrm>
            <a:off x="832630" y="1105207"/>
            <a:ext cx="3429000" cy="79562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Data sources: 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Freight, fuel, commodity, port, weather, vessel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80D3CF0-EB8B-0E23-701A-27DF90F43AE1}"/>
              </a:ext>
            </a:extLst>
          </p:cNvPr>
          <p:cNvSpPr/>
          <p:nvPr/>
        </p:nvSpPr>
        <p:spPr>
          <a:xfrm>
            <a:off x="1394986" y="2096067"/>
            <a:ext cx="2304288" cy="6765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Data processing: 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Pandas, NumPy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93DCB67-97B9-CFBC-A2BF-75760A669D5B}"/>
              </a:ext>
            </a:extLst>
          </p:cNvPr>
          <p:cNvSpPr/>
          <p:nvPr/>
        </p:nvSpPr>
        <p:spPr>
          <a:xfrm>
            <a:off x="832630" y="2985471"/>
            <a:ext cx="3429000" cy="67863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ML algorithms: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Prophet, XGBoost, LSTM 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B6894E1-C5F7-B1FF-F9D1-A3035BDA8C8A}"/>
              </a:ext>
            </a:extLst>
          </p:cNvPr>
          <p:cNvSpPr/>
          <p:nvPr/>
        </p:nvSpPr>
        <p:spPr>
          <a:xfrm>
            <a:off x="1289830" y="5063072"/>
            <a:ext cx="2514600" cy="576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Voyage optimization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Cost, idle time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2FF7027-C446-C018-A083-ADDDC2C30838}"/>
              </a:ext>
            </a:extLst>
          </p:cNvPr>
          <p:cNvSpPr/>
          <p:nvPr/>
        </p:nvSpPr>
        <p:spPr>
          <a:xfrm>
            <a:off x="2914817" y="3962322"/>
            <a:ext cx="2069591" cy="76100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Vessel Decision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feasibility + ranking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4BE9A02-F20F-D7A7-47D1-708BB360BCD3}"/>
              </a:ext>
            </a:extLst>
          </p:cNvPr>
          <p:cNvSpPr/>
          <p:nvPr/>
        </p:nvSpPr>
        <p:spPr>
          <a:xfrm>
            <a:off x="376238" y="3962322"/>
            <a:ext cx="2002788" cy="76100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Market decision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Buy / Wait / Avoid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6ADCAE6-8272-9EB7-ED06-3958DC02F257}"/>
              </a:ext>
            </a:extLst>
          </p:cNvPr>
          <p:cNvSpPr/>
          <p:nvPr/>
        </p:nvSpPr>
        <p:spPr>
          <a:xfrm>
            <a:off x="1289830" y="5926540"/>
            <a:ext cx="2514600" cy="576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Risk and Dashboard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monitoring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60A76E1-6177-964F-B56D-61C510E4044F}"/>
              </a:ext>
            </a:extLst>
          </p:cNvPr>
          <p:cNvCxnSpPr>
            <a:stCxn id="9" idx="2"/>
            <a:endCxn id="13" idx="0"/>
          </p:cNvCxnSpPr>
          <p:nvPr/>
        </p:nvCxnSpPr>
        <p:spPr>
          <a:xfrm>
            <a:off x="2547130" y="1900832"/>
            <a:ext cx="0" cy="1952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359B32F-31E2-DAFE-0A80-D17A1AC8AFD2}"/>
              </a:ext>
            </a:extLst>
          </p:cNvPr>
          <p:cNvCxnSpPr>
            <a:stCxn id="13" idx="2"/>
            <a:endCxn id="17" idx="0"/>
          </p:cNvCxnSpPr>
          <p:nvPr/>
        </p:nvCxnSpPr>
        <p:spPr>
          <a:xfrm>
            <a:off x="2547130" y="2772607"/>
            <a:ext cx="0" cy="212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606D39C-5017-6594-77C3-10C4E7FA6BBE}"/>
              </a:ext>
            </a:extLst>
          </p:cNvPr>
          <p:cNvCxnSpPr>
            <a:stCxn id="17" idx="2"/>
            <a:endCxn id="29" idx="0"/>
          </p:cNvCxnSpPr>
          <p:nvPr/>
        </p:nvCxnSpPr>
        <p:spPr>
          <a:xfrm flipH="1">
            <a:off x="1377632" y="3664110"/>
            <a:ext cx="1169498" cy="2982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400EFE8-73B7-7839-279D-FCDD51888A4F}"/>
              </a:ext>
            </a:extLst>
          </p:cNvPr>
          <p:cNvCxnSpPr>
            <a:stCxn id="17" idx="2"/>
            <a:endCxn id="26" idx="0"/>
          </p:cNvCxnSpPr>
          <p:nvPr/>
        </p:nvCxnSpPr>
        <p:spPr>
          <a:xfrm>
            <a:off x="2547130" y="3664110"/>
            <a:ext cx="1402483" cy="2982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DCCF20D-39E3-B55F-55A4-9882A9F6622F}"/>
              </a:ext>
            </a:extLst>
          </p:cNvPr>
          <p:cNvCxnSpPr>
            <a:stCxn id="29" idx="2"/>
            <a:endCxn id="21" idx="0"/>
          </p:cNvCxnSpPr>
          <p:nvPr/>
        </p:nvCxnSpPr>
        <p:spPr>
          <a:xfrm>
            <a:off x="1377632" y="4723325"/>
            <a:ext cx="1169498" cy="339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37305EF-88AF-7EBC-8DDD-1B5F4015F7A8}"/>
              </a:ext>
            </a:extLst>
          </p:cNvPr>
          <p:cNvCxnSpPr>
            <a:stCxn id="26" idx="2"/>
            <a:endCxn id="21" idx="0"/>
          </p:cNvCxnSpPr>
          <p:nvPr/>
        </p:nvCxnSpPr>
        <p:spPr>
          <a:xfrm flipH="1">
            <a:off x="2547130" y="4723325"/>
            <a:ext cx="1402483" cy="339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EA6369E-0201-3D04-55DC-C8A3194B28F6}"/>
              </a:ext>
            </a:extLst>
          </p:cNvPr>
          <p:cNvCxnSpPr>
            <a:stCxn id="21" idx="2"/>
            <a:endCxn id="31" idx="0"/>
          </p:cNvCxnSpPr>
          <p:nvPr/>
        </p:nvCxnSpPr>
        <p:spPr>
          <a:xfrm>
            <a:off x="2547130" y="5639144"/>
            <a:ext cx="0" cy="2873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2" name="Rectangle: Rounded Corners 17411">
            <a:extLst>
              <a:ext uri="{FF2B5EF4-FFF2-40B4-BE49-F238E27FC236}">
                <a16:creationId xmlns:a16="http://schemas.microsoft.com/office/drawing/2014/main" id="{67FD5EFE-821E-5C66-37A9-25C1CA43123F}"/>
              </a:ext>
            </a:extLst>
          </p:cNvPr>
          <p:cNvSpPr/>
          <p:nvPr/>
        </p:nvSpPr>
        <p:spPr>
          <a:xfrm>
            <a:off x="5458329" y="1112961"/>
            <a:ext cx="6163811" cy="154880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Tech Stack </a:t>
            </a:r>
          </a:p>
          <a:p>
            <a:pPr algn="ctr"/>
            <a:endParaRPr lang="en-IN" b="1" dirty="0">
              <a:solidFill>
                <a:schemeClr val="tx1"/>
              </a:solidFill>
            </a:endParaRPr>
          </a:p>
          <a:p>
            <a:pPr algn="ctr"/>
            <a:r>
              <a:rPr lang="en-IN" dirty="0">
                <a:solidFill>
                  <a:schemeClr val="tx1"/>
                </a:solidFill>
              </a:rPr>
              <a:t>Python        Pandas          NumPy         FastAPI          React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   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       PostgreSQL           Docker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7413" name="Rectangle: Rounded Corners 17412">
            <a:extLst>
              <a:ext uri="{FF2B5EF4-FFF2-40B4-BE49-F238E27FC236}">
                <a16:creationId xmlns:a16="http://schemas.microsoft.com/office/drawing/2014/main" id="{42BE1421-4F08-21B1-7559-E4AEAC2454CD}"/>
              </a:ext>
            </a:extLst>
          </p:cNvPr>
          <p:cNvSpPr/>
          <p:nvPr/>
        </p:nvSpPr>
        <p:spPr>
          <a:xfrm>
            <a:off x="5461610" y="2826347"/>
            <a:ext cx="6163811" cy="3859417"/>
          </a:xfrm>
          <a:custGeom>
            <a:avLst/>
            <a:gdLst>
              <a:gd name="csX0" fmla="*/ 97 w 6206483"/>
              <a:gd name="csY0" fmla="*/ 452293 h 4222437"/>
              <a:gd name="csX1" fmla="*/ 370094 w 6206483"/>
              <a:gd name="csY1" fmla="*/ 0 h 4222437"/>
              <a:gd name="csX2" fmla="*/ 5790766 w 6206483"/>
              <a:gd name="csY2" fmla="*/ 9144 h 4222437"/>
              <a:gd name="csX3" fmla="*/ 6206483 w 6206483"/>
              <a:gd name="csY3" fmla="*/ 406573 h 4222437"/>
              <a:gd name="csX4" fmla="*/ 6197339 w 6206483"/>
              <a:gd name="csY4" fmla="*/ 3779288 h 4222437"/>
              <a:gd name="csX5" fmla="*/ 5818198 w 6206483"/>
              <a:gd name="csY5" fmla="*/ 4222437 h 4222437"/>
              <a:gd name="csX6" fmla="*/ 424958 w 6206483"/>
              <a:gd name="csY6" fmla="*/ 4204149 h 4222437"/>
              <a:gd name="csX7" fmla="*/ 27529 w 6206483"/>
              <a:gd name="csY7" fmla="*/ 3806720 h 4222437"/>
              <a:gd name="csX8" fmla="*/ 97 w 6206483"/>
              <a:gd name="csY8" fmla="*/ 452293 h 42224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6206483" h="4222437">
                <a:moveTo>
                  <a:pt x="97" y="452293"/>
                </a:moveTo>
                <a:cubicBezTo>
                  <a:pt x="97" y="66146"/>
                  <a:pt x="-16053" y="0"/>
                  <a:pt x="370094" y="0"/>
                </a:cubicBezTo>
                <a:lnTo>
                  <a:pt x="5790766" y="9144"/>
                </a:lnTo>
                <a:cubicBezTo>
                  <a:pt x="6176913" y="9144"/>
                  <a:pt x="6206483" y="20426"/>
                  <a:pt x="6206483" y="406573"/>
                </a:cubicBezTo>
                <a:lnTo>
                  <a:pt x="6197339" y="3779288"/>
                </a:lnTo>
                <a:cubicBezTo>
                  <a:pt x="6197339" y="4165435"/>
                  <a:pt x="6204345" y="4222437"/>
                  <a:pt x="5818198" y="4222437"/>
                </a:cubicBezTo>
                <a:lnTo>
                  <a:pt x="424958" y="4204149"/>
                </a:lnTo>
                <a:cubicBezTo>
                  <a:pt x="38811" y="4204149"/>
                  <a:pt x="27529" y="4192867"/>
                  <a:pt x="27529" y="3806720"/>
                </a:cubicBezTo>
                <a:cubicBezTo>
                  <a:pt x="27529" y="2874506"/>
                  <a:pt x="97" y="1384507"/>
                  <a:pt x="97" y="45229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b="1" dirty="0">
                <a:solidFill>
                  <a:schemeClr val="tx1"/>
                </a:solidFill>
              </a:rPr>
              <a:t>1. Data Collection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lvl="1"/>
            <a:r>
              <a:rPr lang="en-IN" dirty="0">
                <a:solidFill>
                  <a:schemeClr val="tx1"/>
                </a:solidFill>
              </a:rPr>
              <a:t>Gather freight rates, fuel prices, vessel information, port conditions, and weather data. </a:t>
            </a:r>
          </a:p>
          <a:p>
            <a:pPr lvl="0"/>
            <a:r>
              <a:rPr lang="en-IN" b="1" dirty="0">
                <a:solidFill>
                  <a:schemeClr val="tx1"/>
                </a:solidFill>
              </a:rPr>
              <a:t>2. Data Processing &amp; Analysis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lvl="1"/>
            <a:r>
              <a:rPr lang="en-IN" dirty="0">
                <a:solidFill>
                  <a:schemeClr val="tx1"/>
                </a:solidFill>
              </a:rPr>
              <a:t>Organize and analyse the collected data to identify market trends and operational constraints. </a:t>
            </a:r>
          </a:p>
          <a:p>
            <a:pPr lvl="0"/>
            <a:r>
              <a:rPr lang="en-IN" b="1" dirty="0">
                <a:solidFill>
                  <a:schemeClr val="tx1"/>
                </a:solidFill>
              </a:rPr>
              <a:t>3. Decision Engine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lvl="1"/>
            <a:r>
              <a:rPr lang="en-IN" dirty="0">
                <a:solidFill>
                  <a:schemeClr val="tx1"/>
                </a:solidFill>
              </a:rPr>
              <a:t>Compare shipping options, evaluate vessel suitability, estimate costs and risks, and generate recommendations. </a:t>
            </a:r>
          </a:p>
          <a:p>
            <a:pPr lvl="0"/>
            <a:r>
              <a:rPr lang="en-IN" b="1" dirty="0">
                <a:solidFill>
                  <a:schemeClr val="tx1"/>
                </a:solidFill>
              </a:rPr>
              <a:t>4. Dashboard &amp; Visualization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lvl="1"/>
            <a:r>
              <a:rPr lang="en-IN" dirty="0">
                <a:solidFill>
                  <a:schemeClr val="tx1"/>
                </a:solidFill>
              </a:rPr>
              <a:t>Present forecasts, vessel recommendations, risk analysis, and shipping strategies through an interactive dashboard</a:t>
            </a:r>
            <a:r>
              <a:rPr lang="en-IN" dirty="0"/>
              <a:t>.</a:t>
            </a:r>
          </a:p>
        </p:txBody>
      </p:sp>
      <p:pic>
        <p:nvPicPr>
          <p:cNvPr id="17417" name="Picture 17416">
            <a:extLst>
              <a:ext uri="{FF2B5EF4-FFF2-40B4-BE49-F238E27FC236}">
                <a16:creationId xmlns:a16="http://schemas.microsoft.com/office/drawing/2014/main" id="{87C0C59D-F0EE-5ACA-CF13-EC0D44AA5C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0775" y="1720832"/>
            <a:ext cx="360000" cy="360000"/>
          </a:xfrm>
          <a:prstGeom prst="rect">
            <a:avLst/>
          </a:prstGeom>
        </p:spPr>
      </p:pic>
      <p:pic>
        <p:nvPicPr>
          <p:cNvPr id="17419" name="Picture 17418">
            <a:extLst>
              <a:ext uri="{FF2B5EF4-FFF2-40B4-BE49-F238E27FC236}">
                <a16:creationId xmlns:a16="http://schemas.microsoft.com/office/drawing/2014/main" id="{29F9EDFF-D301-26C8-4D86-C0B6A4157C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2312" y="1700366"/>
            <a:ext cx="360000" cy="360000"/>
          </a:xfrm>
          <a:prstGeom prst="rect">
            <a:avLst/>
          </a:prstGeom>
        </p:spPr>
      </p:pic>
      <p:pic>
        <p:nvPicPr>
          <p:cNvPr id="17421" name="Picture 17420">
            <a:extLst>
              <a:ext uri="{FF2B5EF4-FFF2-40B4-BE49-F238E27FC236}">
                <a16:creationId xmlns:a16="http://schemas.microsoft.com/office/drawing/2014/main" id="{1CBA7E98-3E19-54B6-7165-AFC232CDD5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2200" y="1680423"/>
            <a:ext cx="360000" cy="360000"/>
          </a:xfrm>
          <a:prstGeom prst="rect">
            <a:avLst/>
          </a:prstGeom>
        </p:spPr>
      </p:pic>
      <p:pic>
        <p:nvPicPr>
          <p:cNvPr id="17423" name="Picture 17422">
            <a:extLst>
              <a:ext uri="{FF2B5EF4-FFF2-40B4-BE49-F238E27FC236}">
                <a16:creationId xmlns:a16="http://schemas.microsoft.com/office/drawing/2014/main" id="{51034900-9508-9972-DF04-B202B3E433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8925" y="1680423"/>
            <a:ext cx="360000" cy="360000"/>
          </a:xfrm>
          <a:prstGeom prst="rect">
            <a:avLst/>
          </a:prstGeom>
        </p:spPr>
      </p:pic>
      <p:pic>
        <p:nvPicPr>
          <p:cNvPr id="17425" name="Picture 17424">
            <a:extLst>
              <a:ext uri="{FF2B5EF4-FFF2-40B4-BE49-F238E27FC236}">
                <a16:creationId xmlns:a16="http://schemas.microsoft.com/office/drawing/2014/main" id="{9BDA2143-7A1E-7859-7ED5-C11F0091FC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226" y="1716423"/>
            <a:ext cx="324000" cy="324000"/>
          </a:xfrm>
          <a:prstGeom prst="rect">
            <a:avLst/>
          </a:prstGeom>
        </p:spPr>
      </p:pic>
      <p:pic>
        <p:nvPicPr>
          <p:cNvPr id="17427" name="Picture 17426">
            <a:extLst>
              <a:ext uri="{FF2B5EF4-FFF2-40B4-BE49-F238E27FC236}">
                <a16:creationId xmlns:a16="http://schemas.microsoft.com/office/drawing/2014/main" id="{F06F33BB-C56D-6003-22B3-4AD4C2E525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9799" y="2226607"/>
            <a:ext cx="360000" cy="360000"/>
          </a:xfrm>
          <a:prstGeom prst="rect">
            <a:avLst/>
          </a:prstGeom>
        </p:spPr>
      </p:pic>
      <p:pic>
        <p:nvPicPr>
          <p:cNvPr id="17431" name="Picture 17430">
            <a:extLst>
              <a:ext uri="{FF2B5EF4-FFF2-40B4-BE49-F238E27FC236}">
                <a16:creationId xmlns:a16="http://schemas.microsoft.com/office/drawing/2014/main" id="{1862972C-2F85-6AE4-8A51-AE8BDE36F7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37600" y="2205008"/>
            <a:ext cx="396000" cy="39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RouteX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0C4A618-611D-79EC-39C8-88DDA92412F4}"/>
              </a:ext>
            </a:extLst>
          </p:cNvPr>
          <p:cNvSpPr/>
          <p:nvPr/>
        </p:nvSpPr>
        <p:spPr>
          <a:xfrm>
            <a:off x="712175" y="1224268"/>
            <a:ext cx="2381245" cy="135757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IN" sz="1400" dirty="0">
                <a:solidFill>
                  <a:schemeClr val="tx1"/>
                </a:solidFill>
              </a:rPr>
              <a:t>Around 95% of external trade by volume and 68% by value is transported by sea.</a:t>
            </a:r>
          </a:p>
          <a:p>
            <a:pPr lvl="0"/>
            <a:r>
              <a:rPr lang="en-US" sz="1400" dirty="0">
                <a:solidFill>
                  <a:schemeClr val="tx1"/>
                </a:solidFill>
                <a:hlinkClick r:id="rId4"/>
              </a:rPr>
              <a:t>Ministry of Ports, Shipping and Waterways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6FE6850-1DF4-655C-7893-61FF24490CF0}"/>
              </a:ext>
            </a:extLst>
          </p:cNvPr>
          <p:cNvSpPr/>
          <p:nvPr/>
        </p:nvSpPr>
        <p:spPr>
          <a:xfrm>
            <a:off x="8897408" y="1224268"/>
            <a:ext cx="2631076" cy="12926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16.5% time is spent idle</a:t>
            </a:r>
          </a:p>
          <a:p>
            <a:pPr algn="ctr"/>
            <a:r>
              <a:rPr lang="en-IN" dirty="0">
                <a:solidFill>
                  <a:schemeClr val="tx1"/>
                </a:solidFill>
                <a:hlinkClick r:id="rId5"/>
              </a:rPr>
              <a:t>Press Release FY 2024-25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456CA59-624E-7DA3-F2F0-58AA3D30E241}"/>
              </a:ext>
            </a:extLst>
          </p:cNvPr>
          <p:cNvSpPr/>
          <p:nvPr/>
        </p:nvSpPr>
        <p:spPr>
          <a:xfrm>
            <a:off x="5949711" y="1224268"/>
            <a:ext cx="2631076" cy="135757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49.5 hrs of vessel turn around, FY25</a:t>
            </a:r>
          </a:p>
          <a:p>
            <a:pPr algn="ctr"/>
            <a:r>
              <a:rPr lang="en-IN" dirty="0">
                <a:solidFill>
                  <a:schemeClr val="tx1"/>
                </a:solidFill>
                <a:hlinkClick r:id="rId6"/>
              </a:rPr>
              <a:t>Press Release Page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142FB21-6D8A-958A-A10A-99B8E2DDDB2A}"/>
              </a:ext>
            </a:extLst>
          </p:cNvPr>
          <p:cNvSpPr/>
          <p:nvPr/>
        </p:nvSpPr>
        <p:spPr>
          <a:xfrm>
            <a:off x="3251845" y="1224268"/>
            <a:ext cx="2381245" cy="135757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~855 MT of Cargo handled by 12 major ports, FY25</a:t>
            </a:r>
          </a:p>
          <a:p>
            <a:pPr algn="ctr"/>
            <a:r>
              <a:rPr lang="en-IN" sz="1600" dirty="0">
                <a:solidFill>
                  <a:schemeClr val="tx1"/>
                </a:solidFill>
                <a:hlinkClick r:id="rId5"/>
              </a:rPr>
              <a:t>Press Release FY 2024-25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7C134B5-500D-4C77-2848-85BA97DC7BF3}"/>
              </a:ext>
            </a:extLst>
          </p:cNvPr>
          <p:cNvSpPr/>
          <p:nvPr/>
        </p:nvSpPr>
        <p:spPr>
          <a:xfrm>
            <a:off x="767814" y="2807207"/>
            <a:ext cx="4865276" cy="3513351"/>
          </a:xfrm>
          <a:custGeom>
            <a:avLst/>
            <a:gdLst>
              <a:gd name="csX0" fmla="*/ 0 w 4091828"/>
              <a:gd name="csY0" fmla="*/ 323443 h 3513351"/>
              <a:gd name="csX1" fmla="*/ 332586 w 4091828"/>
              <a:gd name="csY1" fmla="*/ 1 h 3513351"/>
              <a:gd name="csX2" fmla="*/ 3750057 w 4091828"/>
              <a:gd name="csY2" fmla="*/ 1 h 3513351"/>
              <a:gd name="csX3" fmla="*/ 4073499 w 4091828"/>
              <a:gd name="csY3" fmla="*/ 350875 h 3513351"/>
              <a:gd name="csX4" fmla="*/ 4091787 w 4091828"/>
              <a:gd name="csY4" fmla="*/ 3171621 h 3513351"/>
              <a:gd name="csX5" fmla="*/ 3777489 w 4091828"/>
              <a:gd name="csY5" fmla="*/ 3504207 h 3513351"/>
              <a:gd name="csX6" fmla="*/ 350874 w 4091828"/>
              <a:gd name="csY6" fmla="*/ 3513351 h 3513351"/>
              <a:gd name="csX7" fmla="*/ 18288 w 4091828"/>
              <a:gd name="csY7" fmla="*/ 3189909 h 3513351"/>
              <a:gd name="csX8" fmla="*/ 0 w 4091828"/>
              <a:gd name="csY8" fmla="*/ 323443 h 35133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091828" h="3513351">
                <a:moveTo>
                  <a:pt x="0" y="323443"/>
                </a:moveTo>
                <a:cubicBezTo>
                  <a:pt x="0" y="-1642"/>
                  <a:pt x="7501" y="1"/>
                  <a:pt x="332586" y="1"/>
                </a:cubicBezTo>
                <a:lnTo>
                  <a:pt x="3750057" y="1"/>
                </a:lnTo>
                <a:cubicBezTo>
                  <a:pt x="4075142" y="1"/>
                  <a:pt x="4073499" y="25790"/>
                  <a:pt x="4073499" y="350875"/>
                </a:cubicBezTo>
                <a:lnTo>
                  <a:pt x="4091787" y="3171621"/>
                </a:lnTo>
                <a:cubicBezTo>
                  <a:pt x="4091787" y="3496706"/>
                  <a:pt x="4102574" y="3504207"/>
                  <a:pt x="3777489" y="3504207"/>
                </a:cubicBezTo>
                <a:lnTo>
                  <a:pt x="350874" y="3513351"/>
                </a:lnTo>
                <a:cubicBezTo>
                  <a:pt x="25789" y="3513351"/>
                  <a:pt x="18288" y="3514994"/>
                  <a:pt x="18288" y="3189909"/>
                </a:cubicBezTo>
                <a:cubicBezTo>
                  <a:pt x="18288" y="2405108"/>
                  <a:pt x="0" y="1108244"/>
                  <a:pt x="0" y="32344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FEASIBILITY</a:t>
            </a:r>
            <a:endParaRPr lang="en-IN" sz="2400" dirty="0">
              <a:solidFill>
                <a:schemeClr val="tx1"/>
              </a:solidFill>
            </a:endParaRPr>
          </a:p>
          <a:p>
            <a:pPr lvl="0" algn="ctr"/>
            <a:r>
              <a:rPr lang="en-IN" sz="2400" dirty="0">
                <a:solidFill>
                  <a:schemeClr val="tx1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Can we build it?</a:t>
            </a:r>
          </a:p>
          <a:p>
            <a:pPr lvl="0"/>
            <a:endParaRPr lang="en-IN" dirty="0">
              <a:solidFill>
                <a:prstClr val="black"/>
              </a:solidFill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0"/>
            <a:r>
              <a:rPr lang="en-IN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1. </a:t>
            </a:r>
            <a:r>
              <a:rPr lang="en-IN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Data</a:t>
            </a:r>
            <a:r>
              <a:rPr lang="en-IN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- Freight, fuel, commodity, ports</a:t>
            </a:r>
          </a:p>
          <a:p>
            <a:pPr lvl="0"/>
            <a:r>
              <a:rPr lang="en-IN" sz="2000" dirty="0">
                <a:solidFill>
                  <a:prstClr val="black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2. </a:t>
            </a:r>
            <a:r>
              <a:rPr lang="en-IN" sz="2000" b="1" dirty="0">
                <a:solidFill>
                  <a:prstClr val="black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ML</a:t>
            </a:r>
            <a:r>
              <a:rPr lang="en-IN" sz="2000" dirty="0">
                <a:solidFill>
                  <a:prstClr val="black"/>
                </a:solidFill>
                <a:latin typeface="Arial" pitchFamily="34" charset="0"/>
                <a:ea typeface="ＭＳ Ｐゴシック" pitchFamily="1" charset="-128"/>
                <a:cs typeface="Arial" pitchFamily="34" charset="0"/>
              </a:rPr>
              <a:t> - Prophet, XGBoost, LSTM</a:t>
            </a:r>
          </a:p>
          <a:p>
            <a:pPr lvl="0"/>
            <a:r>
              <a:rPr lang="en-IN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3. </a:t>
            </a:r>
            <a:r>
              <a:rPr lang="en-IN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Optimization</a:t>
            </a:r>
            <a:r>
              <a:rPr lang="en-IN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– Vessel constraints, port constraints, weather conditions</a:t>
            </a:r>
          </a:p>
          <a:p>
            <a:pPr lvl="0"/>
            <a:r>
              <a:rPr lang="en-IN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4. </a:t>
            </a:r>
            <a:r>
              <a:rPr lang="en-IN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Deployment</a:t>
            </a:r>
            <a:r>
              <a:rPr lang="en-IN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- FastAPI, React, PostgreSQL </a:t>
            </a:r>
            <a:endParaRPr lang="en-IN" sz="2000" dirty="0">
              <a:solidFill>
                <a:prstClr val="black"/>
              </a:solidFill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522D696-62CC-DDA3-5EB6-224EC6175E38}"/>
              </a:ext>
            </a:extLst>
          </p:cNvPr>
          <p:cNvSpPr/>
          <p:nvPr/>
        </p:nvSpPr>
        <p:spPr>
          <a:xfrm>
            <a:off x="6050297" y="2826871"/>
            <a:ext cx="5429528" cy="3513351"/>
          </a:xfrm>
          <a:custGeom>
            <a:avLst/>
            <a:gdLst>
              <a:gd name="csX0" fmla="*/ 0 w 4110075"/>
              <a:gd name="csY0" fmla="*/ 387450 h 3540782"/>
              <a:gd name="csX1" fmla="*/ 332586 w 4110075"/>
              <a:gd name="csY1" fmla="*/ 0 h 3540782"/>
              <a:gd name="csX2" fmla="*/ 3795777 w 4110075"/>
              <a:gd name="csY2" fmla="*/ 0 h 3540782"/>
              <a:gd name="csX3" fmla="*/ 4100931 w 4110075"/>
              <a:gd name="csY3" fmla="*/ 360018 h 3540782"/>
              <a:gd name="csX4" fmla="*/ 4110075 w 4110075"/>
              <a:gd name="csY4" fmla="*/ 3171620 h 3540782"/>
              <a:gd name="csX5" fmla="*/ 3777489 w 4110075"/>
              <a:gd name="csY5" fmla="*/ 3522494 h 3540782"/>
              <a:gd name="csX6" fmla="*/ 341730 w 4110075"/>
              <a:gd name="csY6" fmla="*/ 3540782 h 3540782"/>
              <a:gd name="csX7" fmla="*/ 9144 w 4110075"/>
              <a:gd name="csY7" fmla="*/ 3199052 h 3540782"/>
              <a:gd name="csX8" fmla="*/ 0 w 4110075"/>
              <a:gd name="csY8" fmla="*/ 387450 h 35407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110075" h="3540782">
                <a:moveTo>
                  <a:pt x="0" y="387450"/>
                </a:moveTo>
                <a:cubicBezTo>
                  <a:pt x="0" y="62365"/>
                  <a:pt x="7501" y="0"/>
                  <a:pt x="332586" y="0"/>
                </a:cubicBezTo>
                <a:lnTo>
                  <a:pt x="3795777" y="0"/>
                </a:lnTo>
                <a:cubicBezTo>
                  <a:pt x="4120862" y="0"/>
                  <a:pt x="4100931" y="34933"/>
                  <a:pt x="4100931" y="360018"/>
                </a:cubicBezTo>
                <a:lnTo>
                  <a:pt x="4110075" y="3171620"/>
                </a:lnTo>
                <a:cubicBezTo>
                  <a:pt x="4110075" y="3496705"/>
                  <a:pt x="4102574" y="3522494"/>
                  <a:pt x="3777489" y="3522494"/>
                </a:cubicBezTo>
                <a:lnTo>
                  <a:pt x="341730" y="3540782"/>
                </a:lnTo>
                <a:cubicBezTo>
                  <a:pt x="16645" y="3540782"/>
                  <a:pt x="9144" y="3524137"/>
                  <a:pt x="9144" y="3199052"/>
                </a:cubicBezTo>
                <a:cubicBezTo>
                  <a:pt x="9144" y="2414251"/>
                  <a:pt x="0" y="1172251"/>
                  <a:pt x="0" y="38745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IN" sz="2400" b="1" dirty="0">
                <a:solidFill>
                  <a:schemeClr val="tx1"/>
                </a:solidFill>
              </a:rPr>
              <a:t>VIABILITY</a:t>
            </a:r>
          </a:p>
          <a:p>
            <a:pPr algn="ctr">
              <a:buNone/>
            </a:pPr>
            <a:r>
              <a:rPr lang="en-IN" sz="2400" dirty="0">
                <a:solidFill>
                  <a:schemeClr val="tx1"/>
                </a:solidFill>
              </a:rPr>
              <a:t>Will it create value?</a:t>
            </a:r>
          </a:p>
          <a:p>
            <a:pPr>
              <a:buNone/>
            </a:pP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IN" sz="2000" b="1" dirty="0">
                <a:solidFill>
                  <a:schemeClr val="tx1"/>
                </a:solidFill>
              </a:rPr>
              <a:t>When</a:t>
            </a:r>
            <a:r>
              <a:rPr lang="en-IN" sz="2000" dirty="0">
                <a:solidFill>
                  <a:schemeClr val="tx1"/>
                </a:solidFill>
              </a:rPr>
              <a:t> – Buy / wait / avoid booking window</a:t>
            </a:r>
          </a:p>
          <a:p>
            <a:pPr marL="342900" indent="-342900">
              <a:buAutoNum type="arabicPeriod"/>
            </a:pPr>
            <a:r>
              <a:rPr lang="en-IN" sz="2000" b="1" dirty="0">
                <a:solidFill>
                  <a:schemeClr val="tx1"/>
                </a:solidFill>
              </a:rPr>
              <a:t>Which</a:t>
            </a:r>
            <a:r>
              <a:rPr lang="en-IN" sz="2000" dirty="0">
                <a:solidFill>
                  <a:schemeClr val="tx1"/>
                </a:solidFill>
              </a:rPr>
              <a:t> – Feasible vessel, port</a:t>
            </a:r>
          </a:p>
          <a:p>
            <a:pPr marL="342900" indent="-342900">
              <a:buAutoNum type="arabicPeriod"/>
            </a:pPr>
            <a:r>
              <a:rPr lang="en-IN" sz="2000" b="1" dirty="0">
                <a:solidFill>
                  <a:schemeClr val="tx1"/>
                </a:solidFill>
              </a:rPr>
              <a:t>How</a:t>
            </a:r>
            <a:r>
              <a:rPr lang="en-IN" sz="2000" dirty="0">
                <a:solidFill>
                  <a:schemeClr val="tx1"/>
                </a:solidFill>
              </a:rPr>
              <a:t> – Voyage scheduling and optimization</a:t>
            </a:r>
          </a:p>
          <a:p>
            <a:pPr marL="342900" indent="-342900">
              <a:buAutoNum type="arabicPeriod"/>
            </a:pPr>
            <a:r>
              <a:rPr lang="en-IN" sz="2000" b="1" dirty="0">
                <a:solidFill>
                  <a:schemeClr val="tx1"/>
                </a:solidFill>
              </a:rPr>
              <a:t>What</a:t>
            </a:r>
            <a:r>
              <a:rPr lang="en-IN" sz="2000" dirty="0">
                <a:solidFill>
                  <a:schemeClr val="tx1"/>
                </a:solidFill>
              </a:rPr>
              <a:t> </a:t>
            </a:r>
            <a:r>
              <a:rPr lang="en-IN" sz="2000" b="1" dirty="0">
                <a:solidFill>
                  <a:schemeClr val="tx1"/>
                </a:solidFill>
              </a:rPr>
              <a:t>if</a:t>
            </a:r>
            <a:r>
              <a:rPr lang="en-IN" sz="2000" dirty="0">
                <a:solidFill>
                  <a:schemeClr val="tx1"/>
                </a:solidFill>
              </a:rPr>
              <a:t> – Fuel, congestion, weather analysis</a:t>
            </a:r>
          </a:p>
          <a:p>
            <a:pPr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RouteX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35850A5-C7FE-0A55-2D21-FF0F372B8FFB}"/>
              </a:ext>
            </a:extLst>
          </p:cNvPr>
          <p:cNvSpPr/>
          <p:nvPr/>
        </p:nvSpPr>
        <p:spPr>
          <a:xfrm>
            <a:off x="609600" y="1299170"/>
            <a:ext cx="5370576" cy="145988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The scale of opportunity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855 MT, 95% trade volume, 1.59 BT, and the 96 to 49.5 hrs / 16.3% idle stat </a:t>
            </a:r>
          </a:p>
          <a:p>
            <a:pPr algn="ctr"/>
            <a:r>
              <a:rPr lang="en-IN" i="1" dirty="0">
                <a:solidFill>
                  <a:schemeClr val="tx1"/>
                </a:solidFill>
              </a:rPr>
              <a:t>"MoPSW, FY 2024-25 - decade-long national trend"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D11C4B0-6762-8889-A47F-1C05982FE691}"/>
              </a:ext>
            </a:extLst>
          </p:cNvPr>
          <p:cNvSpPr/>
          <p:nvPr/>
        </p:nvSpPr>
        <p:spPr>
          <a:xfrm>
            <a:off x="609600" y="2981401"/>
            <a:ext cx="5370576" cy="3502094"/>
          </a:xfrm>
          <a:custGeom>
            <a:avLst/>
            <a:gdLst>
              <a:gd name="csX0" fmla="*/ 9144 w 5388864"/>
              <a:gd name="csY0" fmla="*/ 362714 h 3502093"/>
              <a:gd name="csX1" fmla="*/ 344426 w 5388864"/>
              <a:gd name="csY1" fmla="*/ 0 h 3502093"/>
              <a:gd name="csX2" fmla="*/ 5035294 w 5388864"/>
              <a:gd name="csY2" fmla="*/ 0 h 3502093"/>
              <a:gd name="csX3" fmla="*/ 5379720 w 5388864"/>
              <a:gd name="csY3" fmla="*/ 335282 h 3502093"/>
              <a:gd name="csX4" fmla="*/ 5388864 w 5388864"/>
              <a:gd name="csY4" fmla="*/ 3148523 h 3502093"/>
              <a:gd name="csX5" fmla="*/ 5062726 w 5388864"/>
              <a:gd name="csY5" fmla="*/ 3502093 h 3502093"/>
              <a:gd name="csX6" fmla="*/ 344426 w 5388864"/>
              <a:gd name="csY6" fmla="*/ 3502093 h 3502093"/>
              <a:gd name="csX7" fmla="*/ 0 w 5388864"/>
              <a:gd name="csY7" fmla="*/ 3148523 h 3502093"/>
              <a:gd name="csX8" fmla="*/ 9144 w 5388864"/>
              <a:gd name="csY8" fmla="*/ 362714 h 35020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388864" h="3502093">
                <a:moveTo>
                  <a:pt x="9144" y="362714"/>
                </a:moveTo>
                <a:cubicBezTo>
                  <a:pt x="9144" y="41190"/>
                  <a:pt x="22902" y="0"/>
                  <a:pt x="344426" y="0"/>
                </a:cubicBezTo>
                <a:lnTo>
                  <a:pt x="5035294" y="0"/>
                </a:lnTo>
                <a:cubicBezTo>
                  <a:pt x="5356818" y="0"/>
                  <a:pt x="5379720" y="13758"/>
                  <a:pt x="5379720" y="335282"/>
                </a:cubicBezTo>
                <a:lnTo>
                  <a:pt x="5388864" y="3148523"/>
                </a:lnTo>
                <a:cubicBezTo>
                  <a:pt x="5388864" y="3470047"/>
                  <a:pt x="5384250" y="3502093"/>
                  <a:pt x="5062726" y="3502093"/>
                </a:cubicBezTo>
                <a:lnTo>
                  <a:pt x="344426" y="3502093"/>
                </a:lnTo>
                <a:cubicBezTo>
                  <a:pt x="22902" y="3502093"/>
                  <a:pt x="0" y="3470047"/>
                  <a:pt x="0" y="3148523"/>
                </a:cubicBezTo>
                <a:lnTo>
                  <a:pt x="9144" y="36271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Lower fuel consumption and freight costs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Reduced demurrage and vessel time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Faster decisions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Improved cargo flow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Reduced operational uncertainty 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743CC49-7F0A-8603-0CE0-A268EC52CA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8014" y="1299170"/>
            <a:ext cx="5532786" cy="526622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0D0742A-F7C4-5FD6-FDD6-190BBCD623B9}"/>
              </a:ext>
            </a:extLst>
          </p:cNvPr>
          <p:cNvSpPr txBox="1"/>
          <p:nvPr/>
        </p:nvSpPr>
        <p:spPr>
          <a:xfrm>
            <a:off x="951099" y="3098652"/>
            <a:ext cx="4844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Navora targets to deliver you?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720645" y="1185912"/>
            <a:ext cx="93853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b="1" dirty="0"/>
              <a:t>Research &amp; References</a:t>
            </a:r>
          </a:p>
          <a:p>
            <a:pPr lvl="0"/>
            <a:r>
              <a:rPr lang="en-IN" b="1" dirty="0"/>
              <a:t>SIH 2026 Problem Statement – SIH26006</a:t>
            </a:r>
            <a:br>
              <a:rPr lang="en-IN" dirty="0"/>
            </a:br>
            <a:r>
              <a:rPr lang="en-IN" dirty="0" err="1">
                <a:hlinkClick r:id="rId3"/>
              </a:rPr>
              <a:t>SIH26006</a:t>
            </a:r>
            <a:r>
              <a:rPr lang="en-IN" dirty="0">
                <a:hlinkClick r:id="rId3"/>
              </a:rPr>
              <a:t> Problem Statement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Ministry of Ports, Shipping &amp; Waterways (MoPSW) – Annual Reports</a:t>
            </a:r>
            <a:br>
              <a:rPr lang="en-IN" dirty="0"/>
            </a:br>
            <a:r>
              <a:rPr lang="en-IN" dirty="0">
                <a:hlinkClick r:id="rId4"/>
              </a:rPr>
              <a:t>MoPSW Annual Reports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Ministry of Shipping &amp; Waterways Press Release</a:t>
            </a:r>
          </a:p>
          <a:p>
            <a:pPr lvl="0"/>
            <a:r>
              <a:rPr lang="en-IN" dirty="0">
                <a:hlinkClick r:id="rId5"/>
              </a:rPr>
              <a:t>Press Release FY 2024-25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MoPSW Annual Report 2025–26</a:t>
            </a:r>
            <a:br>
              <a:rPr lang="en-IN" dirty="0"/>
            </a:br>
            <a:r>
              <a:rPr lang="en-IN" dirty="0">
                <a:hlinkClick r:id="rId6"/>
              </a:rPr>
              <a:t>Annual Report 2025–26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Indian Port Statistics &amp; Cargo Traffic Reports</a:t>
            </a:r>
            <a:br>
              <a:rPr lang="en-IN" dirty="0"/>
            </a:br>
            <a:r>
              <a:rPr lang="en-IN" dirty="0">
                <a:hlinkClick r:id="rId7"/>
              </a:rPr>
              <a:t>Port Reports &amp; Statistics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Visakhapatnam Port Authority – Annual Reports</a:t>
            </a:r>
            <a:br>
              <a:rPr lang="en-IN" dirty="0"/>
            </a:br>
            <a:r>
              <a:rPr lang="en-IN" dirty="0">
                <a:hlinkClick r:id="rId7"/>
              </a:rPr>
              <a:t>Visakhapatnam Port Reports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Paradip Port Authority – Port Infrastructure &amp; Operations</a:t>
            </a:r>
            <a:br>
              <a:rPr lang="en-IN" dirty="0"/>
            </a:br>
            <a:r>
              <a:rPr lang="en-IN" dirty="0">
                <a:hlinkClick r:id="rId8"/>
              </a:rPr>
              <a:t>Paradip Port Authority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UNCTAD Review of Maritime Transport</a:t>
            </a:r>
            <a:br>
              <a:rPr lang="en-IN" dirty="0"/>
            </a:br>
            <a:r>
              <a:rPr lang="en-IN" dirty="0">
                <a:hlinkClick r:id="rId9"/>
              </a:rPr>
              <a:t>UNCTAD Maritime Transport Reports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Baltic Exchange – Baltic Dry Index (BDI)</a:t>
            </a:r>
            <a:br>
              <a:rPr lang="en-IN" dirty="0"/>
            </a:br>
            <a:r>
              <a:rPr lang="en-IN" dirty="0">
                <a:hlinkClick r:id="rId10"/>
              </a:rPr>
              <a:t>Baltic Dry Index Data</a:t>
            </a:r>
            <a:endParaRPr lang="en-IN" dirty="0"/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RouteX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8224</TotalTime>
  <Words>658</Words>
  <Application>Microsoft Office PowerPoint</Application>
  <PresentationFormat>Widescreen</PresentationFormat>
  <Paragraphs>117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NAVORA Intelligent Freight Forecasting and Vessel Optimization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Shubham Teredesai</cp:lastModifiedBy>
  <cp:revision>160</cp:revision>
  <dcterms:created xsi:type="dcterms:W3CDTF">2013-12-12T18:46:50Z</dcterms:created>
  <dcterms:modified xsi:type="dcterms:W3CDTF">2026-09-04T13:54:31Z</dcterms:modified>
  <cp:category/>
</cp:coreProperties>
</file>